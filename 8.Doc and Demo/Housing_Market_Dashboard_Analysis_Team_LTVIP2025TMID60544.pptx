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rimson Text" panose="020B0604020202020204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  <p:embeddedFont>
      <p:font typeface="Vidaloka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3C634-07C4-49A0-B6BF-EC007008F473}" v="160" dt="2026-02-25T05:53:55.782"/>
  </p1510:revLst>
</p1510:revInfo>
</file>

<file path=ppt/tableStyles.xml><?xml version="1.0" encoding="utf-8"?>
<a:tblStyleLst xmlns:a="http://schemas.openxmlformats.org/drawingml/2006/main" def="{16C2CB52-6FC4-4C0A-B5C6-2DD447F4C950}">
  <a:tblStyle styleId="{16C2CB52-6FC4-4C0A-B5C6-2DD447F4C9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219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microsoft.com/office/2016/11/relationships/changesInfo" Target="changesInfos/changesInfo1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. Vivekananda Vardhan" userId="0e1d2abdcacb11d0" providerId="LiveId" clId="{BC8AD569-200E-4AC4-A8D8-B6E29480A7D1}"/>
    <pc:docChg chg="modSld">
      <pc:chgData name="Y. Vivekananda Vardhan" userId="0e1d2abdcacb11d0" providerId="LiveId" clId="{BC8AD569-200E-4AC4-A8D8-B6E29480A7D1}" dt="2026-02-25T05:53:55.782" v="159" actId="20577"/>
      <pc:docMkLst>
        <pc:docMk/>
      </pc:docMkLst>
      <pc:sldChg chg="modSp">
        <pc:chgData name="Y. Vivekananda Vardhan" userId="0e1d2abdcacb11d0" providerId="LiveId" clId="{BC8AD569-200E-4AC4-A8D8-B6E29480A7D1}" dt="2026-02-25T05:53:55.782" v="159" actId="20577"/>
        <pc:sldMkLst>
          <pc:docMk/>
          <pc:sldMk cId="0" sldId="256"/>
        </pc:sldMkLst>
        <pc:spChg chg="mod">
          <ac:chgData name="Y. Vivekananda Vardhan" userId="0e1d2abdcacb11d0" providerId="LiveId" clId="{BC8AD569-200E-4AC4-A8D8-B6E29480A7D1}" dt="2026-02-25T05:53:55.782" v="159" actId="20577"/>
          <ac:spMkLst>
            <pc:docMk/>
            <pc:sldMk cId="0" sldId="256"/>
            <ac:spMk id="48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68785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c89fe974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6c89fe974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c89fe974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6c89fe974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6c89fe974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6c89fe974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c89fe974b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6c89fe974b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c89fe974b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6c89fe974b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6c89fe974b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6c89fe974b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c89fe974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6c89fe974b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0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9" r:id="rId11"/>
    <p:sldLayoutId id="2147483674" r:id="rId12"/>
    <p:sldLayoutId id="2147483697" r:id="rId13"/>
    <p:sldLayoutId id="2147483698" r:id="rId14"/>
    <p:sldLayoutId id="2147483699" r:id="rId15"/>
    <p:sldLayoutId id="214748370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401600" y="556625"/>
            <a:ext cx="8654700" cy="17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u="sng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sz="3000" b="1" u="sng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Arial"/>
                <a:ea typeface="Arial"/>
                <a:cs typeface="Arial"/>
                <a:sym typeface="Arial"/>
              </a:rPr>
              <a:t>             Visualizing Housing Market Trends:</a:t>
            </a:r>
            <a:endParaRPr sz="25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Arial"/>
                <a:ea typeface="Arial"/>
                <a:cs typeface="Arial"/>
                <a:sym typeface="Arial"/>
              </a:rPr>
              <a:t> An Analysis of Sale Prices and Features using Tableau</a:t>
            </a:r>
            <a:endParaRPr sz="2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922550" y="2520075"/>
            <a:ext cx="5538600" cy="14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ID </a:t>
            </a:r>
            <a:r>
              <a:rPr lang="en" sz="1200" b="1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2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LTVIP2026TMIDS91584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Size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2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Leader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Yallanuru Vivekananda Vardhan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member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Yakasari Lakshmi Narasimha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222222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154300" cy="5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Objective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25" y="1108525"/>
            <a:ext cx="80730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analyze housing data and visualize trends such as house prices, age, and renovation impact using Tableau, enabling data-driven decision-making for stakeholders like real estate analysts and executives.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Used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kc_house_data.csv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Size: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~21,000 records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Includes price, bedrooms, bathrooms, floors, condition, renovation year, square footage, and more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/>
          <p:nvPr/>
        </p:nvSpPr>
        <p:spPr>
          <a:xfrm>
            <a:off x="448600" y="415725"/>
            <a:ext cx="386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Data Flow Diagrams</a:t>
            </a:r>
            <a:endParaRPr sz="2600"/>
          </a:p>
        </p:txBody>
      </p:sp>
      <p:pic>
        <p:nvPicPr>
          <p:cNvPr id="501" name="Google Shape;501;p62" title="DFD_Level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875" y="1538300"/>
            <a:ext cx="7598074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2"/>
          <p:cNvSpPr txBox="1"/>
          <p:nvPr/>
        </p:nvSpPr>
        <p:spPr>
          <a:xfrm>
            <a:off x="613000" y="1009125"/>
            <a:ext cx="204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DFD Level 0:</a:t>
            </a:r>
            <a:endParaRPr sz="1600" u="sng"/>
          </a:p>
        </p:txBody>
      </p:sp>
      <p:sp>
        <p:nvSpPr>
          <p:cNvPr id="503" name="Google Shape;503;p62"/>
          <p:cNvSpPr txBox="1"/>
          <p:nvPr/>
        </p:nvSpPr>
        <p:spPr>
          <a:xfrm>
            <a:off x="448600" y="3897325"/>
            <a:ext cx="838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DFD Level 0 shows a high-level overview of the system where the User uploads housing data, the system processes it, and the End User views the visualized dashboard output.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3"/>
          <p:cNvSpPr txBox="1"/>
          <p:nvPr/>
        </p:nvSpPr>
        <p:spPr>
          <a:xfrm>
            <a:off x="234850" y="4814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DFD Level 1: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09" name="Google Shape;509;p63" title="DFD_Lev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600" y="806900"/>
            <a:ext cx="7022399" cy="33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63"/>
          <p:cNvSpPr txBox="1"/>
          <p:nvPr/>
        </p:nvSpPr>
        <p:spPr>
          <a:xfrm>
            <a:off x="354650" y="4138275"/>
            <a:ext cx="84435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DFD Level 1 details the step-by-step flow from data upload to cleaning, visualization, dashboard creation, testing, and publishing for end-user access.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4"/>
          <p:cNvSpPr txBox="1"/>
          <p:nvPr/>
        </p:nvSpPr>
        <p:spPr>
          <a:xfrm>
            <a:off x="375775" y="797075"/>
            <a:ext cx="36546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1"/>
                </a:solidFill>
              </a:rPr>
              <a:t>Data Preparation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16" name="Google Shape;516;p64"/>
          <p:cNvSpPr txBox="1"/>
          <p:nvPr/>
        </p:nvSpPr>
        <p:spPr>
          <a:xfrm>
            <a:off x="0" y="797075"/>
            <a:ext cx="516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517" name="Google Shape;517;p64"/>
          <p:cNvSpPr txBox="1"/>
          <p:nvPr/>
        </p:nvSpPr>
        <p:spPr>
          <a:xfrm>
            <a:off x="894825" y="1566525"/>
            <a:ext cx="70341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Cleaned the dataset by removing </a:t>
            </a:r>
            <a:r>
              <a:rPr lang="en" sz="1500" b="1">
                <a:solidFill>
                  <a:schemeClr val="dk1"/>
                </a:solidFill>
              </a:rPr>
              <a:t>null values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 b="1">
                <a:solidFill>
                  <a:schemeClr val="dk1"/>
                </a:solidFill>
              </a:rPr>
              <a:t>duplicates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Standardized column formats (e.g., </a:t>
            </a:r>
            <a:r>
              <a:rPr lang="en" sz="1500" b="1">
                <a:solidFill>
                  <a:schemeClr val="dk1"/>
                </a:solidFill>
              </a:rPr>
              <a:t>dates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numerical fields</a:t>
            </a:r>
            <a:r>
              <a:rPr lang="en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Created </a:t>
            </a:r>
            <a:r>
              <a:rPr lang="en" sz="1500" b="1">
                <a:solidFill>
                  <a:schemeClr val="dk1"/>
                </a:solidFill>
              </a:rPr>
              <a:t>calculated fields</a:t>
            </a:r>
            <a:r>
              <a:rPr lang="en" sz="1500">
                <a:solidFill>
                  <a:schemeClr val="dk1"/>
                </a:solidFill>
              </a:rPr>
              <a:t> like: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▸ </a:t>
            </a:r>
            <a:r>
              <a:rPr lang="en" sz="1500" i="1">
                <a:solidFill>
                  <a:schemeClr val="dk1"/>
                </a:solidFill>
              </a:rPr>
              <a:t>House Age = 2025 - yr_built</a:t>
            </a:r>
            <a:br>
              <a:rPr lang="en" sz="1500" i="1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▸ </a:t>
            </a:r>
            <a:r>
              <a:rPr lang="en" sz="1500" i="1">
                <a:solidFill>
                  <a:schemeClr val="dk1"/>
                </a:solidFill>
              </a:rPr>
              <a:t>Years Since Renovation = 2025 - yr_renovated</a:t>
            </a:r>
            <a:endParaRPr sz="1500" i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Renamed confusing or inconsistent column names for clarity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Filtered irrelevant records (e.g., zero bedroom/floor houses)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Ensured data is structured and ready for meaningful visualization in Tableau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65"/>
          <p:cNvSpPr txBox="1">
            <a:spLocks noGrp="1"/>
          </p:cNvSpPr>
          <p:nvPr>
            <p:ph type="subTitle" idx="1"/>
          </p:nvPr>
        </p:nvSpPr>
        <p:spPr>
          <a:xfrm>
            <a:off x="49325" y="347800"/>
            <a:ext cx="29829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Visualizations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65"/>
          <p:cNvSpPr txBox="1"/>
          <p:nvPr/>
        </p:nvSpPr>
        <p:spPr>
          <a:xfrm>
            <a:off x="528425" y="845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House Age vs Features</a:t>
            </a:r>
            <a:endParaRPr/>
          </a:p>
        </p:txBody>
      </p:sp>
      <p:pic>
        <p:nvPicPr>
          <p:cNvPr id="525" name="Google Shape;52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75" y="1861300"/>
            <a:ext cx="8292899" cy="267702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5"/>
          <p:cNvSpPr txBox="1"/>
          <p:nvPr/>
        </p:nvSpPr>
        <p:spPr>
          <a:xfrm>
            <a:off x="610650" y="1151750"/>
            <a:ext cx="8292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Displays how house age correlates with the number of bathrooms, bedrooms, and floors—highlighting which features influence housing age the most.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6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66"/>
          <p:cNvSpPr txBox="1"/>
          <p:nvPr/>
        </p:nvSpPr>
        <p:spPr>
          <a:xfrm>
            <a:off x="413350" y="528450"/>
            <a:ext cx="354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Sales by Years Since Renovation</a:t>
            </a:r>
            <a:endParaRPr/>
          </a:p>
        </p:txBody>
      </p:sp>
      <p:pic>
        <p:nvPicPr>
          <p:cNvPr id="533" name="Google Shape;53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800" y="1700775"/>
            <a:ext cx="8055750" cy="2930726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6"/>
          <p:cNvSpPr txBox="1"/>
          <p:nvPr/>
        </p:nvSpPr>
        <p:spPr>
          <a:xfrm>
            <a:off x="413350" y="928650"/>
            <a:ext cx="81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 shows how recent renovations impact house sale prices—newly renovated homes have higher sales counts in specific price bins.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7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67"/>
          <p:cNvSpPr txBox="1"/>
          <p:nvPr/>
        </p:nvSpPr>
        <p:spPr>
          <a:xfrm>
            <a:off x="540200" y="410075"/>
            <a:ext cx="439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House Age by Renovation Status</a:t>
            </a:r>
            <a:endParaRPr/>
          </a:p>
        </p:txBody>
      </p:sp>
      <p:sp>
        <p:nvSpPr>
          <p:cNvPr id="541" name="Google Shape;541;p67"/>
          <p:cNvSpPr txBox="1"/>
          <p:nvPr/>
        </p:nvSpPr>
        <p:spPr>
          <a:xfrm>
            <a:off x="540200" y="810275"/>
            <a:ext cx="852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 chart illustrates the spread of house age grouped by whether they’ve been renovated, helping identify market trends across age categories.</a:t>
            </a:r>
            <a:endParaRPr/>
          </a:p>
        </p:txBody>
      </p:sp>
      <p:pic>
        <p:nvPicPr>
          <p:cNvPr id="542" name="Google Shape;54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00" y="1566525"/>
            <a:ext cx="7917226" cy="29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450" y="1914050"/>
            <a:ext cx="7116349" cy="253442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8"/>
          <p:cNvSpPr txBox="1"/>
          <p:nvPr/>
        </p:nvSpPr>
        <p:spPr>
          <a:xfrm>
            <a:off x="272425" y="368750"/>
            <a:ext cx="3534600" cy="1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Overall Dataset Summary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Summary metrics include: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Total data points analyzed: </a:t>
            </a:r>
            <a:r>
              <a:rPr lang="en" b="1">
                <a:solidFill>
                  <a:schemeClr val="dk1"/>
                </a:solidFill>
              </a:rPr>
              <a:t>21,609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Basement Area (sqft): </a:t>
            </a:r>
            <a:r>
              <a:rPr lang="en" b="1">
                <a:solidFill>
                  <a:schemeClr val="dk1"/>
                </a:solidFill>
              </a:rPr>
              <a:t>38,64,798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Average Sale Price: </a:t>
            </a:r>
            <a:r>
              <a:rPr lang="en" b="1">
                <a:solidFill>
                  <a:schemeClr val="dk1"/>
                </a:solidFill>
              </a:rPr>
              <a:t>₹511,619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9"/>
          <p:cNvSpPr txBox="1">
            <a:spLocks noGrp="1"/>
          </p:cNvSpPr>
          <p:nvPr>
            <p:ph type="subTitle" idx="1"/>
          </p:nvPr>
        </p:nvSpPr>
        <p:spPr>
          <a:xfrm>
            <a:off x="946500" y="454626"/>
            <a:ext cx="20856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Dashboard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800" y="955925"/>
            <a:ext cx="7353802" cy="367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"/>
          <p:cNvSpPr txBox="1">
            <a:spLocks noGrp="1"/>
          </p:cNvSpPr>
          <p:nvPr>
            <p:ph type="subTitle" idx="1"/>
          </p:nvPr>
        </p:nvSpPr>
        <p:spPr>
          <a:xfrm>
            <a:off x="437950" y="1165275"/>
            <a:ext cx="75381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creating the dashboard, it is published on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Tableau Public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wider access.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step explains how users can view, share, or embed the dashboard online.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Publish to Tableau Public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shareable link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 charts as images or PDFs (if needed)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00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0"/>
          <p:cNvSpPr txBox="1">
            <a:spLocks noGrp="1"/>
          </p:cNvSpPr>
          <p:nvPr>
            <p:ph type="title"/>
          </p:nvPr>
        </p:nvSpPr>
        <p:spPr>
          <a:xfrm>
            <a:off x="313950" y="409800"/>
            <a:ext cx="208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Publishing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1"/>
          <p:cNvSpPr txBox="1">
            <a:spLocks noGrp="1"/>
          </p:cNvSpPr>
          <p:nvPr>
            <p:ph type="subTitle" idx="4294967295"/>
          </p:nvPr>
        </p:nvSpPr>
        <p:spPr>
          <a:xfrm>
            <a:off x="734275" y="1200525"/>
            <a:ext cx="7922700" cy="31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400"/>
              </a:spcBef>
              <a:buClr>
                <a:schemeClr val="dk1"/>
              </a:buClr>
              <a:buSzPts val="1100"/>
              <a:buNone/>
            </a:pPr>
            <a:r>
              <a:rPr lang="en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Advantages</a:t>
            </a:r>
            <a:endParaRPr sz="2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Interactive Dashboards: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Users can filter by house age, renovation, and price for                personalized insights.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Analysis: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Visuals make complex housing data easy to understand.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Decisions: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Helps real estate teams make pricing and marketing decisions.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Web-Friendly: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Dashboards can be published or embedded online.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Scalable Design: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extended with new data or integrated with future tools.</a:t>
            </a:r>
            <a:b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2"/>
          <p:cNvSpPr txBox="1">
            <a:spLocks noGrp="1"/>
          </p:cNvSpPr>
          <p:nvPr>
            <p:ph type="subTitle" idx="4294967295"/>
          </p:nvPr>
        </p:nvSpPr>
        <p:spPr>
          <a:xfrm>
            <a:off x="1027500" y="1270975"/>
            <a:ext cx="7089000" cy="28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</a:t>
            </a:r>
            <a:endParaRPr sz="2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Data Risk: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Insights depend on updated CSV uploads.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Prediction Support: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Tableau is not ideal for advanced ML or forecasting.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Learning Curve: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Non-technical users may need guidance.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Issues: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Very large datasets may slow performance.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 txBox="1">
            <a:spLocks noGrp="1"/>
          </p:cNvSpPr>
          <p:nvPr>
            <p:ph type="subTitle" idx="1"/>
          </p:nvPr>
        </p:nvSpPr>
        <p:spPr>
          <a:xfrm>
            <a:off x="1027025" y="559775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73"/>
          <p:cNvSpPr txBox="1"/>
          <p:nvPr/>
        </p:nvSpPr>
        <p:spPr>
          <a:xfrm>
            <a:off x="728075" y="1357525"/>
            <a:ext cx="7635300" cy="28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project provides a comprehensive view of housing market trends through interactive Tableau dashboards.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It simplifies raw housing data into insightful visuals for real estate decision-making.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Stakeholders can explore trends by </a:t>
            </a:r>
            <a:r>
              <a:rPr lang="en" sz="1500" b="1">
                <a:solidFill>
                  <a:schemeClr val="dk1"/>
                </a:solidFill>
              </a:rPr>
              <a:t>sale price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renovation year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house age</a:t>
            </a:r>
            <a:r>
              <a:rPr lang="en" sz="1500">
                <a:solidFill>
                  <a:schemeClr val="dk1"/>
                </a:solidFill>
              </a:rPr>
              <a:t>, and more.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project enhances </a:t>
            </a:r>
            <a:r>
              <a:rPr lang="en" sz="1500" b="1">
                <a:solidFill>
                  <a:schemeClr val="dk1"/>
                </a:solidFill>
              </a:rPr>
              <a:t>data-driven strategies</a:t>
            </a:r>
            <a:r>
              <a:rPr lang="en" sz="1500">
                <a:solidFill>
                  <a:schemeClr val="dk1"/>
                </a:solidFill>
              </a:rPr>
              <a:t> for marketing, pricing, and customer targeting.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With web integration and future expansion possibilities, this solution is both </a:t>
            </a:r>
            <a:r>
              <a:rPr lang="en" sz="1500" b="1">
                <a:solidFill>
                  <a:schemeClr val="dk1"/>
                </a:solidFill>
              </a:rPr>
              <a:t>scalable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 b="1">
                <a:solidFill>
                  <a:schemeClr val="dk1"/>
                </a:solidFill>
              </a:rPr>
              <a:t>impactful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74"/>
          <p:cNvPicPr preferRelativeResize="0"/>
          <p:nvPr/>
        </p:nvPicPr>
        <p:blipFill rotWithShape="1">
          <a:blip r:embed="rId3">
            <a:alphaModFix/>
          </a:blip>
          <a:srcRect t="4614" r="3660" b="8805"/>
          <a:stretch/>
        </p:blipFill>
        <p:spPr>
          <a:xfrm>
            <a:off x="1223625" y="756250"/>
            <a:ext cx="6341300" cy="22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74"/>
          <p:cNvSpPr txBox="1"/>
          <p:nvPr/>
        </p:nvSpPr>
        <p:spPr>
          <a:xfrm>
            <a:off x="3196475" y="3370275"/>
            <a:ext cx="53316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B4A7D6"/>
                </a:solidFill>
              </a:rPr>
              <a:t>“Data is a precious thing and will last longer than the systems themselves.”</a:t>
            </a:r>
            <a:endParaRPr sz="1200" b="1">
              <a:solidFill>
                <a:srgbClr val="B4A7D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E7CC3"/>
                </a:solidFill>
              </a:rPr>
              <a:t>                         </a:t>
            </a:r>
            <a:r>
              <a:rPr lang="en" sz="1100" b="1">
                <a:solidFill>
                  <a:srgbClr val="8E7CC3"/>
                </a:solidFill>
              </a:rPr>
              <a:t>  — Tim Berners-Lee</a:t>
            </a:r>
            <a:endParaRPr b="1">
              <a:solidFill>
                <a:srgbClr val="8E7CC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645</Words>
  <Application>Microsoft Office PowerPoint</Application>
  <PresentationFormat>On-screen Show (16:9)</PresentationFormat>
  <Paragraphs>66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Verdana</vt:lpstr>
      <vt:lpstr>Crimson Text</vt:lpstr>
      <vt:lpstr>Montserrat</vt:lpstr>
      <vt:lpstr>Arial</vt:lpstr>
      <vt:lpstr>Vidaloka</vt:lpstr>
      <vt:lpstr>Lato</vt:lpstr>
      <vt:lpstr>Minimalist Business Slides XL by Slidesgo</vt:lpstr>
      <vt:lpstr>Project Title              Visualizing Housing Market Trends:  An Analysis of Sale Prices and Features using Tableau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Publishing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             Visualizing Housing Market Trends:  An Analysis of Sale Prices and Features using Tableau</dc:title>
  <dc:creator>Hema0</dc:creator>
  <cp:lastModifiedBy>Y. Vivekananda Vardhan</cp:lastModifiedBy>
  <cp:revision>2</cp:revision>
  <dcterms:modified xsi:type="dcterms:W3CDTF">2026-02-25T05:53:58Z</dcterms:modified>
</cp:coreProperties>
</file>